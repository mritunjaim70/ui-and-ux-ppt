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1" r:id="rId5"/>
    <p:sldId id="284" r:id="rId6"/>
    <p:sldId id="261" r:id="rId7"/>
    <p:sldId id="279" r:id="rId8"/>
    <p:sldId id="277" r:id="rId9"/>
    <p:sldId id="266" r:id="rId10"/>
    <p:sldId id="292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79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UI AND UX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introduction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040" y="2583809"/>
            <a:ext cx="4837176" cy="2852257"/>
          </a:xfrm>
          <a:noFill/>
        </p:spPr>
        <p:txBody>
          <a:bodyPr anchor="t">
            <a:norm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UI and UX are important parts of design that make digital products attractive, easy to use, and enjoyable for users</a:t>
            </a:r>
            <a:r>
              <a:rPr lang="en-GB" dirty="0"/>
              <a:t>.</a:t>
            </a:r>
            <a:endParaRPr lang="en-US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What is UI?</a:t>
            </a:r>
            <a:endParaRPr lang="en-US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pic>
        <p:nvPicPr>
          <p:cNvPr id="20" name="Picture Placeholder 7" descr="A person talking to another person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479" y="2176698"/>
            <a:ext cx="6241650" cy="406471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400" b="1" dirty="0">
                <a:latin typeface="Andalus" panose="02020603050405020304" pitchFamily="18" charset="-78"/>
                <a:cs typeface="Andalus" panose="02020603050405020304" pitchFamily="18" charset="-78"/>
              </a:rPr>
              <a:t>UI – User Interface</a:t>
            </a:r>
          </a:p>
          <a:p>
            <a:pPr lvl="0"/>
            <a:r>
              <a:rPr lang="en-GB" sz="1400" dirty="0">
                <a:latin typeface="Andalus" panose="02020603050405020304" pitchFamily="18" charset="-78"/>
                <a:cs typeface="Andalus" panose="02020603050405020304" pitchFamily="18" charset="-78"/>
              </a:rPr>
              <a:t>UI stands for </a:t>
            </a:r>
            <a:r>
              <a:rPr lang="en-GB" sz="1400" b="1" dirty="0">
                <a:latin typeface="Andalus" panose="02020603050405020304" pitchFamily="18" charset="-78"/>
                <a:cs typeface="Andalus" panose="02020603050405020304" pitchFamily="18" charset="-78"/>
              </a:rPr>
              <a:t>User Interface</a:t>
            </a:r>
            <a:r>
              <a:rPr lang="en-GB" sz="1400" dirty="0">
                <a:latin typeface="Andalus" panose="02020603050405020304" pitchFamily="18" charset="-78"/>
                <a:cs typeface="Andalus" panose="02020603050405020304" pitchFamily="18" charset="-78"/>
              </a:rPr>
              <a:t>. It is the visual part of a website, app, or software. </a:t>
            </a:r>
          </a:p>
          <a:p>
            <a:pPr lvl="0"/>
            <a:r>
              <a:rPr lang="en-GB" sz="1400" dirty="0">
                <a:latin typeface="Andalus" panose="02020603050405020304" pitchFamily="18" charset="-78"/>
                <a:cs typeface="Andalus" panose="02020603050405020304" pitchFamily="18" charset="-78"/>
              </a:rPr>
              <a:t>UI includes: </a:t>
            </a:r>
          </a:p>
          <a:p>
            <a:pPr lvl="1"/>
            <a:r>
              <a:rPr lang="en-GB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Colors</a:t>
            </a: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</a:p>
          <a:p>
            <a:pPr lvl="1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Fonts </a:t>
            </a:r>
          </a:p>
          <a:p>
            <a:pPr lvl="1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Buttons </a:t>
            </a:r>
          </a:p>
          <a:p>
            <a:pPr lvl="1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Icons </a:t>
            </a:r>
          </a:p>
          <a:p>
            <a:pPr lvl="1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Menus </a:t>
            </a:r>
          </a:p>
          <a:p>
            <a:pPr lvl="1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Layout </a:t>
            </a:r>
          </a:p>
          <a:p>
            <a:pPr marL="0" lv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GB" b="1" dirty="0">
                <a:latin typeface="Algerian" panose="04020705040A02060702" pitchFamily="82" charset="0"/>
              </a:rPr>
              <a:t>Example of UI – Instagram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93502" y="1833633"/>
            <a:ext cx="7198454" cy="4470330"/>
          </a:xfrm>
          <a:noFill/>
        </p:spPr>
        <p:txBody>
          <a:bodyPr>
            <a:normAutofit/>
          </a:bodyPr>
          <a:lstStyle/>
          <a:p>
            <a:endParaRPr lang="en-GB" b="1" dirty="0"/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1. Home screen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to posts and stories.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2. Like, comment, and share icons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are easy to recognize.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3. Profile page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has a clear and organized layout.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4. Simple navigation bar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helps users move between sections.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5. Attractive images and videos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make the app visually appealing.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6. </a:t>
            </a:r>
            <a:r>
              <a:rPr lang="en-GB" sz="2000" b="1" dirty="0" err="1">
                <a:latin typeface="Andalus" panose="02020603050405020304" pitchFamily="18" charset="-78"/>
                <a:cs typeface="Andalus" panose="02020603050405020304" pitchFamily="18" charset="-78"/>
              </a:rPr>
              <a:t>Colors</a:t>
            </a:r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, fonts, icons, and buttons</a:t>
            </a:r>
            <a:r>
              <a:rPr lang="en-GB" sz="2000" dirty="0">
                <a:latin typeface="Andalus" panose="02020603050405020304" pitchFamily="18" charset="-78"/>
                <a:cs typeface="Andalus" panose="02020603050405020304" pitchFamily="18" charset="-78"/>
              </a:rPr>
              <a:t> are designed consistently.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55354" y="4836089"/>
            <a:ext cx="498446" cy="1325880"/>
          </a:xfrm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What is UX?</a:t>
            </a:r>
            <a:endParaRPr lang="en-US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2029968"/>
            <a:ext cx="4894006" cy="4152718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b="1" dirty="0"/>
              <a:t>UX – User Experience</a:t>
            </a:r>
          </a:p>
          <a:p>
            <a:pPr lvl="0"/>
            <a:r>
              <a:rPr lang="en-GB" dirty="0"/>
              <a:t>UX stands for </a:t>
            </a:r>
            <a:r>
              <a:rPr lang="en-GB" b="1" dirty="0"/>
              <a:t>User Experience</a:t>
            </a:r>
            <a:r>
              <a:rPr lang="en-GB" dirty="0"/>
              <a:t>. It focuses on how a user feels while using a product. </a:t>
            </a:r>
          </a:p>
          <a:p>
            <a:pPr lvl="0"/>
            <a:r>
              <a:rPr lang="en-GB" dirty="0"/>
              <a:t>UX includes: </a:t>
            </a:r>
          </a:p>
          <a:p>
            <a:pPr lvl="1"/>
            <a:r>
              <a:rPr lang="en-GB" dirty="0"/>
              <a:t>Easy navigation </a:t>
            </a:r>
          </a:p>
          <a:p>
            <a:pPr lvl="1"/>
            <a:r>
              <a:rPr lang="en-GB" dirty="0"/>
              <a:t>Simple processes </a:t>
            </a:r>
          </a:p>
          <a:p>
            <a:pPr lvl="1"/>
            <a:r>
              <a:rPr lang="en-GB" dirty="0"/>
              <a:t>Fast response </a:t>
            </a:r>
          </a:p>
          <a:p>
            <a:pPr lvl="1"/>
            <a:r>
              <a:rPr lang="en-GB" dirty="0"/>
              <a:t>Clear information </a:t>
            </a:r>
          </a:p>
          <a:p>
            <a:pPr lvl="1"/>
            <a:r>
              <a:rPr lang="en-GB" dirty="0"/>
              <a:t>User-friendly features </a:t>
            </a:r>
          </a:p>
          <a:p>
            <a:pPr lvl="0"/>
            <a:r>
              <a:rPr lang="en-GB" dirty="0"/>
              <a:t> The main goal of UX is to make the product </a:t>
            </a:r>
            <a:r>
              <a:rPr lang="en-GB" b="1" dirty="0"/>
              <a:t>useful, simple, and satisfying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BBD84AA8-495D-1210-1B06-DA73C5BCF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GB" dirty="0">
                <a:latin typeface="Algerian" panose="04020705040A02060702" pitchFamily="82" charset="0"/>
              </a:rPr>
              <a:t>Example of UX – Instagram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272718" y="1426127"/>
            <a:ext cx="5134335" cy="438497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1. </a:t>
            </a:r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Open Instagram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and see the home feed. </a:t>
            </a:r>
          </a:p>
          <a:p>
            <a:pPr lvl="0"/>
            <a:r>
              <a:rPr lang="en-GB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2. </a:t>
            </a:r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Scroll through posts and reels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easily. </a:t>
            </a:r>
          </a:p>
          <a:p>
            <a:pPr lvl="0"/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3. Search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for people, pages, or topics. </a:t>
            </a:r>
          </a:p>
          <a:p>
            <a:pPr lvl="0"/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4. Like, comment, or share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posts with simple actions. </a:t>
            </a:r>
          </a:p>
          <a:p>
            <a:pPr lvl="0"/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5. Follow users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and see their content in the feed. </a:t>
            </a:r>
          </a:p>
          <a:p>
            <a:pPr lvl="0"/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6. Send messages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through Instagram Direct. </a:t>
            </a:r>
          </a:p>
          <a:p>
            <a:pPr lvl="0"/>
            <a:r>
              <a:rPr lang="en-GB" b="1" dirty="0">
                <a:latin typeface="Andalus" panose="02020603050405020304" pitchFamily="18" charset="-78"/>
                <a:cs typeface="Andalus" panose="02020603050405020304" pitchFamily="18" charset="-78"/>
              </a:rPr>
              <a:t>7. Explore new content</a:t>
            </a:r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 based on your interests.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43332" y="1790329"/>
            <a:ext cx="2310467" cy="4113054"/>
          </a:xfrm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GB" dirty="0">
                <a:latin typeface="Algerian" panose="04020705040A02060702" pitchFamily="82" charset="0"/>
              </a:rPr>
              <a:t>Difference Between UI and UX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CB65501E-A327-D358-9D08-A369467726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968423263"/>
              </p:ext>
            </p:extLst>
          </p:nvPr>
        </p:nvGraphicFramePr>
        <p:xfrm>
          <a:off x="2153174" y="1923640"/>
          <a:ext cx="7885651" cy="471398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92884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956807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</a:tblGrid>
              <a:tr h="78042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884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User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104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Includes colors, fonts, buttons, and icons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Includes navigation, ease of use, and overall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866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Makes the app </a:t>
                      </a:r>
                      <a:r>
                        <a:rPr lang="en-GB" b="1" dirty="0"/>
                        <a:t>attractive and visually clear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Makes the app </a:t>
                      </a:r>
                      <a:r>
                        <a:rPr lang="en-GB" b="1" dirty="0"/>
                        <a:t>simple and comfortable to use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495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Mainly focuses on the </a:t>
                      </a:r>
                      <a:r>
                        <a:rPr lang="en-GB" b="1"/>
                        <a:t>design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Mainly focuses on the </a:t>
                      </a:r>
                      <a:r>
                        <a:rPr lang="en-GB" b="1" dirty="0"/>
                        <a:t>user's 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608429"/>
                  </a:ext>
                </a:extLst>
              </a:tr>
              <a:tr h="495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Example: The design of Instagram's </a:t>
                      </a:r>
                      <a:r>
                        <a:rPr lang="en-GB" b="1" dirty="0"/>
                        <a:t>Like button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Example: How easily users can </a:t>
                      </a:r>
                      <a:r>
                        <a:rPr lang="en-GB" b="1" dirty="0"/>
                        <a:t>like, comment, and share</a:t>
                      </a:r>
                      <a:r>
                        <a:rPr lang="en-GB" dirty="0"/>
                        <a:t> a 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3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4"/>
            <a:ext cx="9467127" cy="4305739"/>
          </a:xfrm>
        </p:spPr>
        <p:txBody>
          <a:bodyPr/>
          <a:lstStyle/>
          <a:p>
            <a:r>
              <a:rPr lang="en-US" sz="7200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5486400"/>
            <a:ext cx="9467850" cy="78013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74</TotalTime>
  <Words>361</Words>
  <Application>Microsoft Office PowerPoint</Application>
  <PresentationFormat>Widescreen</PresentationFormat>
  <Paragraphs>60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Algerian</vt:lpstr>
      <vt:lpstr>Andalus</vt:lpstr>
      <vt:lpstr>Aptos</vt:lpstr>
      <vt:lpstr>Arial</vt:lpstr>
      <vt:lpstr>Arial Nova</vt:lpstr>
      <vt:lpstr>Bahnschrift</vt:lpstr>
      <vt:lpstr>Bahnschrift SemiBold</vt:lpstr>
      <vt:lpstr>Calibri</vt:lpstr>
      <vt:lpstr>Calibri Light</vt:lpstr>
      <vt:lpstr>Wingdings</vt:lpstr>
      <vt:lpstr>Custom</vt:lpstr>
      <vt:lpstr>UI AND UX</vt:lpstr>
      <vt:lpstr>introduction</vt:lpstr>
      <vt:lpstr>What is UI?</vt:lpstr>
      <vt:lpstr>Example of UI – Instagram</vt:lpstr>
      <vt:lpstr>What is UX?</vt:lpstr>
      <vt:lpstr>Example of UX – Instagram</vt:lpstr>
      <vt:lpstr>Difference Between UI and UX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Mritunjai Mritunjai</dc:creator>
  <cp:lastModifiedBy>Mritunjai Mritunjai</cp:lastModifiedBy>
  <cp:revision>1</cp:revision>
  <dcterms:created xsi:type="dcterms:W3CDTF">2026-09-29T13:52:03Z</dcterms:created>
  <dcterms:modified xsi:type="dcterms:W3CDTF">2026-09-29T15:06:25Z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